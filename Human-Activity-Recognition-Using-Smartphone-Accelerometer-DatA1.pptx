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Arimo Bold" charset="1" panose="020B0704020202020204"/>
      <p:regular r:id="rId20"/>
    </p:embeddedFont>
    <p:embeddedFont>
      <p:font typeface="Roboto Condensed" charset="1" panose="02000000000000000000"/>
      <p:regular r:id="rId21"/>
    </p:embeddedFont>
    <p:embeddedFont>
      <p:font typeface="Arimo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8E8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49984" y="4274503"/>
            <a:ext cx="13788033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PATTERN RECOGNITION</a:t>
            </a:r>
          </a:p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SEMESTER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265" y="-21134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6098" y="2106024"/>
            <a:ext cx="17380234" cy="1946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5"/>
              </a:lnSpc>
            </a:pPr>
            <a:r>
              <a:rPr lang="en-US" sz="5929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Human Activity Recognition Using Smartphone Accelerometer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7" y="4127450"/>
            <a:ext cx="1084335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 Classical Machine Learning Perspective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027116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Pranav Krishna Suraparaju (S20230020353)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579864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Peddireddy Eswar Reddy (S2023002333)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132611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Punnam Rahul (S20230020340)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685360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Poornachandar Degavath (S20230020336)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7457926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Indian Institute of Information Technology, Sri City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23330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Abstract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338239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Human Activity Recognition (HAR) is crucial for fitness, healthcare, and motion monitoring.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631257"/>
            <a:ext cx="8009930" cy="2096989"/>
            <a:chOff x="0" y="0"/>
            <a:chExt cx="10679907" cy="27959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9938" cy="2796032"/>
            </a:xfrm>
            <a:custGeom>
              <a:avLst/>
              <a:gdLst/>
              <a:ahLst/>
              <a:cxnLst/>
              <a:rect r="r" b="b" t="t" l="l"/>
              <a:pathLst>
                <a:path h="2796032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2552192"/>
                  </a:lnTo>
                  <a:cubicBezTo>
                    <a:pt x="10679938" y="2686812"/>
                    <a:pt x="10570718" y="2796032"/>
                    <a:pt x="10436098" y="2796032"/>
                  </a:cubicBezTo>
                  <a:lnTo>
                    <a:pt x="243840" y="2796032"/>
                  </a:lnTo>
                  <a:cubicBezTo>
                    <a:pt x="109220" y="2796032"/>
                    <a:pt x="0" y="2686812"/>
                    <a:pt x="0" y="2552192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3593157"/>
            <a:ext cx="8009930" cy="152400"/>
            <a:chOff x="0" y="0"/>
            <a:chExt cx="10679907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79937" cy="203327"/>
            </a:xfrm>
            <a:custGeom>
              <a:avLst/>
              <a:gdLst/>
              <a:ahLst/>
              <a:cxnLst/>
              <a:rect r="r" b="b" t="t" l="l"/>
              <a:pathLst>
                <a:path h="203327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571925" y="3206055"/>
            <a:ext cx="850553" cy="850552"/>
            <a:chOff x="0" y="0"/>
            <a:chExt cx="1134070" cy="11340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827018" y="3294906"/>
            <a:ext cx="340221" cy="5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5" y="4301877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WISDM 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855" y="4857750"/>
            <a:ext cx="7366695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Uses smartphone accelerometer data.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85685" y="3631257"/>
            <a:ext cx="8010079" cy="2096989"/>
            <a:chOff x="0" y="0"/>
            <a:chExt cx="10680105" cy="27959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80065" cy="2796032"/>
            </a:xfrm>
            <a:custGeom>
              <a:avLst/>
              <a:gdLst/>
              <a:ahLst/>
              <a:cxnLst/>
              <a:rect r="r" b="b" t="t" l="l"/>
              <a:pathLst>
                <a:path h="2796032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2552192"/>
                  </a:lnTo>
                  <a:cubicBezTo>
                    <a:pt x="10680065" y="2686812"/>
                    <a:pt x="10570845" y="2796032"/>
                    <a:pt x="10436225" y="2796032"/>
                  </a:cubicBezTo>
                  <a:lnTo>
                    <a:pt x="243840" y="2796032"/>
                  </a:lnTo>
                  <a:cubicBezTo>
                    <a:pt x="109220" y="2796032"/>
                    <a:pt x="0" y="2686812"/>
                    <a:pt x="0" y="2552192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85685" y="3593157"/>
            <a:ext cx="8010079" cy="152400"/>
            <a:chOff x="0" y="0"/>
            <a:chExt cx="10680105" cy="20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80192" cy="203327"/>
            </a:xfrm>
            <a:custGeom>
              <a:avLst/>
              <a:gdLst/>
              <a:ahLst/>
              <a:cxnLst/>
              <a:rect r="r" b="b" t="t" l="l"/>
              <a:pathLst>
                <a:path h="203327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65372" y="3206055"/>
            <a:ext cx="850553" cy="850552"/>
            <a:chOff x="0" y="0"/>
            <a:chExt cx="1134070" cy="11340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120464" y="3294906"/>
            <a:ext cx="340221" cy="5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7302" y="4301877"/>
            <a:ext cx="438700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Feature Extraction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07302" y="4857750"/>
            <a:ext cx="736684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60-sample windowing, 12 statistical features.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238" y="6436965"/>
            <a:ext cx="8009930" cy="2096989"/>
            <a:chOff x="0" y="0"/>
            <a:chExt cx="10679907" cy="27959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79938" cy="2796032"/>
            </a:xfrm>
            <a:custGeom>
              <a:avLst/>
              <a:gdLst/>
              <a:ahLst/>
              <a:cxnLst/>
              <a:rect r="r" b="b" t="t" l="l"/>
              <a:pathLst>
                <a:path h="2796032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2552192"/>
                  </a:lnTo>
                  <a:cubicBezTo>
                    <a:pt x="10679938" y="2686812"/>
                    <a:pt x="10570718" y="2796032"/>
                    <a:pt x="10436098" y="2796032"/>
                  </a:cubicBezTo>
                  <a:lnTo>
                    <a:pt x="243840" y="2796032"/>
                  </a:lnTo>
                  <a:cubicBezTo>
                    <a:pt x="109220" y="2796032"/>
                    <a:pt x="0" y="2686812"/>
                    <a:pt x="0" y="2552192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2238" y="6398865"/>
            <a:ext cx="8009930" cy="152400"/>
            <a:chOff x="0" y="0"/>
            <a:chExt cx="10679907" cy="203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7" cy="203327"/>
            </a:xfrm>
            <a:custGeom>
              <a:avLst/>
              <a:gdLst/>
              <a:ahLst/>
              <a:cxnLst/>
              <a:rect r="r" b="b" t="t" l="l"/>
              <a:pathLst>
                <a:path h="203327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71925" y="6011764"/>
            <a:ext cx="850553" cy="850552"/>
            <a:chOff x="0" y="0"/>
            <a:chExt cx="1134070" cy="11340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4827018" y="6100614"/>
            <a:ext cx="340221" cy="5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3855" y="7107585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ML Models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3855" y="7663457"/>
            <a:ext cx="7366695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Benchmarks four classical models.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85685" y="6436965"/>
            <a:ext cx="8010079" cy="2096989"/>
            <a:chOff x="0" y="0"/>
            <a:chExt cx="10680105" cy="279598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80065" cy="2796032"/>
            </a:xfrm>
            <a:custGeom>
              <a:avLst/>
              <a:gdLst/>
              <a:ahLst/>
              <a:cxnLst/>
              <a:rect r="r" b="b" t="t" l="l"/>
              <a:pathLst>
                <a:path h="2796032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2552192"/>
                  </a:lnTo>
                  <a:cubicBezTo>
                    <a:pt x="10680065" y="2686812"/>
                    <a:pt x="10570845" y="2796032"/>
                    <a:pt x="10436225" y="2796032"/>
                  </a:cubicBezTo>
                  <a:lnTo>
                    <a:pt x="243840" y="2796032"/>
                  </a:lnTo>
                  <a:cubicBezTo>
                    <a:pt x="109220" y="2796032"/>
                    <a:pt x="0" y="2686812"/>
                    <a:pt x="0" y="2552192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85685" y="6398865"/>
            <a:ext cx="8010079" cy="152400"/>
            <a:chOff x="0" y="0"/>
            <a:chExt cx="10680105" cy="203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80192" cy="203327"/>
            </a:xfrm>
            <a:custGeom>
              <a:avLst/>
              <a:gdLst/>
              <a:ahLst/>
              <a:cxnLst/>
              <a:rect r="r" b="b" t="t" l="l"/>
              <a:pathLst>
                <a:path h="203327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865372" y="6011764"/>
            <a:ext cx="850553" cy="850552"/>
            <a:chOff x="0" y="0"/>
            <a:chExt cx="1134070" cy="11340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120464" y="6100614"/>
            <a:ext cx="340221" cy="5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07302" y="7107585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Top Accuracy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07302" y="7663457"/>
            <a:ext cx="736684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 Forest achieved 83.53%.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2238" y="8757642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Lightweight ML models are effective for real-time HAR.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009602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98500" y="4528542"/>
            <a:ext cx="425203" cy="425202"/>
          </a:xfrm>
          <a:custGeom>
            <a:avLst/>
            <a:gdLst/>
            <a:ahLst/>
            <a:cxnLst/>
            <a:rect r="r" b="b" t="t" l="l"/>
            <a:pathLst>
              <a:path h="425202" w="425203">
                <a:moveTo>
                  <a:pt x="0" y="0"/>
                </a:moveTo>
                <a:lnTo>
                  <a:pt x="425202" y="0"/>
                </a:lnTo>
                <a:lnTo>
                  <a:pt x="425202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13632" y="4481661"/>
            <a:ext cx="636671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Smartphone Accelerometers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3632" y="5037535"/>
            <a:ext cx="705311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Enable continuous motion detection.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427369" y="4528542"/>
            <a:ext cx="425203" cy="425202"/>
          </a:xfrm>
          <a:custGeom>
            <a:avLst/>
            <a:gdLst/>
            <a:ahLst/>
            <a:cxnLst/>
            <a:rect r="r" b="b" t="t" l="l"/>
            <a:pathLst>
              <a:path h="425202" w="425203">
                <a:moveTo>
                  <a:pt x="0" y="0"/>
                </a:moveTo>
                <a:lnTo>
                  <a:pt x="425202" y="0"/>
                </a:lnTo>
                <a:lnTo>
                  <a:pt x="425202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42500" y="448166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HAR Activities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2500" y="5037535"/>
            <a:ext cx="7053262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Identifies walking, jogging, sitting, standing, stairs.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98500" y="6162229"/>
            <a:ext cx="425203" cy="425203"/>
          </a:xfrm>
          <a:custGeom>
            <a:avLst/>
            <a:gdLst/>
            <a:ahLst/>
            <a:cxnLst/>
            <a:rect r="r" b="b" t="t" l="l"/>
            <a:pathLst>
              <a:path h="425203" w="425203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13632" y="6115347"/>
            <a:ext cx="509959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Real-World Challenges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3632" y="6671221"/>
            <a:ext cx="705311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Inconsistent motion, orientation changes, human variability.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427369" y="6162229"/>
            <a:ext cx="425203" cy="425203"/>
          </a:xfrm>
          <a:custGeom>
            <a:avLst/>
            <a:gdLst/>
            <a:ahLst/>
            <a:cxnLst/>
            <a:rect r="r" b="b" t="t" l="l"/>
            <a:pathLst>
              <a:path h="425203" w="425203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42500" y="6115347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Project Goal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2500" y="6671221"/>
            <a:ext cx="7053262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Efficient, small-feature ML pipeline for mobile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33612"/>
            <a:ext cx="9111406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Dataset Description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3743771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5316" y="387399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WISDM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5316" y="4429869"/>
            <a:ext cx="413519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Smartphone Activity Dataset.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4866" y="3743771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000" t="0" r="-800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07945" y="387399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51 Subjects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7945" y="4429869"/>
            <a:ext cx="413519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Diverse participant base.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97494" y="3743771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333" r="0" b="-533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60574" y="387399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18 Activities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0574" y="4429869"/>
            <a:ext cx="413519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Variety of daily actions.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238" y="5545782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66" t="0" r="-66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55316" y="5676008"/>
            <a:ext cx="413519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3-axis Accelerometer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55316" y="6674792"/>
            <a:ext cx="413519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 Hz sampling rate.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544866" y="5545782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9333" t="0" r="-9333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607945" y="5676008"/>
            <a:ext cx="360625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Device Position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07945" y="6231880"/>
            <a:ext cx="413519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Phone in front pants pocket.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7447360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Natural variability ensures a challenging and realistic benchmark for HAR.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50405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55789"/>
            <a:ext cx="283518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004370"/>
            <a:ext cx="5245447" cy="38100"/>
            <a:chOff x="0" y="0"/>
            <a:chExt cx="699393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40561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Windowing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005" y="5064621"/>
            <a:ext cx="524544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Signals divided into 60-sample windows (≈ 3 seconds).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2" y="3455789"/>
            <a:ext cx="283518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2" y="4004370"/>
            <a:ext cx="5245447" cy="38100"/>
            <a:chOff x="0" y="0"/>
            <a:chExt cx="699393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2" y="4184154"/>
            <a:ext cx="468406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Feature Computation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2" y="4740028"/>
            <a:ext cx="524544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12 features: Mean, Std Dev, Max, Min for X, Y, Z axes.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6" y="3455789"/>
            <a:ext cx="283518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6" y="4004370"/>
            <a:ext cx="5245447" cy="38100"/>
            <a:chOff x="0" y="0"/>
            <a:chExt cx="6993930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6" y="418415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Missing Values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6" y="4740028"/>
            <a:ext cx="5245447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Handled using median imputation.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133802"/>
            <a:ext cx="283518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682382"/>
            <a:ext cx="8009930" cy="38100"/>
            <a:chOff x="0" y="0"/>
            <a:chExt cx="10679907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62167"/>
            <a:ext cx="381803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Standardization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18040"/>
            <a:ext cx="800993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Z-score normalization applied.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5" y="6133802"/>
            <a:ext cx="283518" cy="43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5" y="6682382"/>
            <a:ext cx="8009930" cy="38100"/>
            <a:chOff x="0" y="0"/>
            <a:chExt cx="10679907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5" y="6862167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Final Dataset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5" y="7418040"/>
            <a:ext cx="800993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10 selected features after feature selection.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935189"/>
            <a:ext cx="8005019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Feature Selection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350098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Two methods used to reduce redundancy and improve classifier performance: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5217914"/>
            <a:ext cx="8009930" cy="2076599"/>
            <a:chOff x="0" y="0"/>
            <a:chExt cx="10679907" cy="27687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9811" cy="2768727"/>
            </a:xfrm>
            <a:custGeom>
              <a:avLst/>
              <a:gdLst/>
              <a:ahLst/>
              <a:cxnLst/>
              <a:rect r="r" b="b" t="t" l="l"/>
              <a:pathLst>
                <a:path h="2768727" w="10679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2712085"/>
                  </a:lnTo>
                  <a:cubicBezTo>
                    <a:pt x="10679811" y="2743454"/>
                    <a:pt x="10654411" y="2768727"/>
                    <a:pt x="10623169" y="2768727"/>
                  </a:cubicBezTo>
                  <a:lnTo>
                    <a:pt x="56642" y="2768727"/>
                  </a:lnTo>
                  <a:cubicBezTo>
                    <a:pt x="25273" y="2768727"/>
                    <a:pt x="0" y="2743327"/>
                    <a:pt x="0" y="271208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75755" y="5463331"/>
            <a:ext cx="744289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Recursive Feature Elimination (RFE)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5755" y="6462118"/>
            <a:ext cx="7442895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 Linear SVM, selects top 10 features.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5685" y="5217914"/>
            <a:ext cx="8010079" cy="2076599"/>
            <a:chOff x="0" y="0"/>
            <a:chExt cx="10680105" cy="27687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80065" cy="2768727"/>
            </a:xfrm>
            <a:custGeom>
              <a:avLst/>
              <a:gdLst/>
              <a:ahLst/>
              <a:cxnLst/>
              <a:rect r="r" b="b" t="t" l="l"/>
              <a:pathLst>
                <a:path h="2768727" w="10680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2712085"/>
                  </a:lnTo>
                  <a:cubicBezTo>
                    <a:pt x="10680065" y="2743454"/>
                    <a:pt x="10654665" y="2768727"/>
                    <a:pt x="10623423" y="2768727"/>
                  </a:cubicBezTo>
                  <a:lnTo>
                    <a:pt x="56642" y="2768727"/>
                  </a:lnTo>
                  <a:cubicBezTo>
                    <a:pt x="25273" y="2768727"/>
                    <a:pt x="0" y="2743327"/>
                    <a:pt x="0" y="271208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69202" y="5463331"/>
            <a:ext cx="605819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SelectKBest (ANOVA F-score)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69202" y="6019205"/>
            <a:ext cx="744304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Selects 10 best features for RF, KNN, Logistic Regression.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21842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Models Used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612951"/>
            <a:ext cx="8048030" cy="1747986"/>
            <a:chOff x="0" y="0"/>
            <a:chExt cx="10730707" cy="23306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812" cy="2279904"/>
            </a:xfrm>
            <a:custGeom>
              <a:avLst/>
              <a:gdLst/>
              <a:ahLst/>
              <a:cxnLst/>
              <a:rect r="r" b="b" t="t" l="l"/>
              <a:pathLst>
                <a:path h="2279904" w="10679812">
                  <a:moveTo>
                    <a:pt x="0" y="243840"/>
                  </a:moveTo>
                  <a:cubicBezTo>
                    <a:pt x="0" y="109220"/>
                    <a:pt x="111125" y="0"/>
                    <a:pt x="248031" y="0"/>
                  </a:cubicBezTo>
                  <a:lnTo>
                    <a:pt x="10431780" y="0"/>
                  </a:lnTo>
                  <a:cubicBezTo>
                    <a:pt x="10568813" y="0"/>
                    <a:pt x="10679812" y="109220"/>
                    <a:pt x="10679812" y="243840"/>
                  </a:cubicBezTo>
                  <a:lnTo>
                    <a:pt x="10679812" y="2036064"/>
                  </a:lnTo>
                  <a:cubicBezTo>
                    <a:pt x="10679812" y="2170684"/>
                    <a:pt x="10568687" y="2279904"/>
                    <a:pt x="10431780" y="2279904"/>
                  </a:cubicBezTo>
                  <a:lnTo>
                    <a:pt x="248031" y="2279904"/>
                  </a:lnTo>
                  <a:cubicBezTo>
                    <a:pt x="110998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612" cy="2330704"/>
            </a:xfrm>
            <a:custGeom>
              <a:avLst/>
              <a:gdLst/>
              <a:ahLst/>
              <a:cxnLst/>
              <a:rect r="r" b="b" t="t" l="l"/>
              <a:pathLst>
                <a:path h="2330704" w="10730612">
                  <a:moveTo>
                    <a:pt x="0" y="269240"/>
                  </a:moveTo>
                  <a:cubicBezTo>
                    <a:pt x="0" y="120142"/>
                    <a:pt x="122809" y="0"/>
                    <a:pt x="273431" y="0"/>
                  </a:cubicBezTo>
                  <a:lnTo>
                    <a:pt x="10457180" y="0"/>
                  </a:lnTo>
                  <a:lnTo>
                    <a:pt x="10457180" y="25400"/>
                  </a:lnTo>
                  <a:lnTo>
                    <a:pt x="10457180" y="0"/>
                  </a:lnTo>
                  <a:cubicBezTo>
                    <a:pt x="10607802" y="0"/>
                    <a:pt x="10730612" y="120142"/>
                    <a:pt x="10730612" y="269240"/>
                  </a:cubicBezTo>
                  <a:lnTo>
                    <a:pt x="10705212" y="269240"/>
                  </a:lnTo>
                  <a:lnTo>
                    <a:pt x="10730612" y="269240"/>
                  </a:lnTo>
                  <a:lnTo>
                    <a:pt x="10730612" y="2061464"/>
                  </a:lnTo>
                  <a:lnTo>
                    <a:pt x="10705212" y="2061464"/>
                  </a:lnTo>
                  <a:lnTo>
                    <a:pt x="10730612" y="2061464"/>
                  </a:lnTo>
                  <a:cubicBezTo>
                    <a:pt x="10730612" y="2210562"/>
                    <a:pt x="10607802" y="2330704"/>
                    <a:pt x="10457180" y="2330704"/>
                  </a:cubicBezTo>
                  <a:lnTo>
                    <a:pt x="10457180" y="2305304"/>
                  </a:lnTo>
                  <a:lnTo>
                    <a:pt x="10457180" y="2330704"/>
                  </a:lnTo>
                  <a:lnTo>
                    <a:pt x="273431" y="2330704"/>
                  </a:lnTo>
                  <a:lnTo>
                    <a:pt x="273431" y="2305304"/>
                  </a:lnTo>
                  <a:lnTo>
                    <a:pt x="273431" y="2330704"/>
                  </a:lnTo>
                  <a:cubicBezTo>
                    <a:pt x="122809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431" y="2279904"/>
                  </a:cubicBezTo>
                  <a:lnTo>
                    <a:pt x="10457180" y="2279904"/>
                  </a:lnTo>
                  <a:cubicBezTo>
                    <a:pt x="10580624" y="2279904"/>
                    <a:pt x="10679812" y="2181733"/>
                    <a:pt x="10679812" y="2061464"/>
                  </a:cubicBezTo>
                  <a:lnTo>
                    <a:pt x="10679812" y="269240"/>
                  </a:lnTo>
                  <a:cubicBezTo>
                    <a:pt x="10679812" y="148971"/>
                    <a:pt x="10580498" y="50800"/>
                    <a:pt x="10457180" y="50800"/>
                  </a:cubicBezTo>
                  <a:lnTo>
                    <a:pt x="273431" y="50800"/>
                  </a:lnTo>
                  <a:lnTo>
                    <a:pt x="273431" y="25400"/>
                  </a:lnTo>
                  <a:lnTo>
                    <a:pt x="273431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632001"/>
            <a:ext cx="152400" cy="1709886"/>
            <a:chOff x="0" y="0"/>
            <a:chExt cx="203200" cy="2279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223135"/>
                  </a:lnTo>
                  <a:cubicBezTo>
                    <a:pt x="203200" y="2254504"/>
                    <a:pt x="177800" y="2279904"/>
                    <a:pt x="146431" y="2279904"/>
                  </a:cubicBezTo>
                  <a:lnTo>
                    <a:pt x="56769" y="2279904"/>
                  </a:lnTo>
                  <a:cubicBezTo>
                    <a:pt x="25400" y="2279904"/>
                    <a:pt x="0" y="2254504"/>
                    <a:pt x="0" y="222313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5" y="391551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Random Forest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5" y="4471392"/>
            <a:ext cx="7252395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500 trees for robust classification.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6635" y="3612951"/>
            <a:ext cx="8048179" cy="1747986"/>
            <a:chOff x="0" y="0"/>
            <a:chExt cx="10730905" cy="2330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10680065" cy="2279904"/>
            </a:xfrm>
            <a:custGeom>
              <a:avLst/>
              <a:gdLst/>
              <a:ahLst/>
              <a:cxnLst/>
              <a:rect r="r" b="b" t="t" l="l"/>
              <a:pathLst>
                <a:path h="2279904" w="10680065">
                  <a:moveTo>
                    <a:pt x="0" y="243840"/>
                  </a:moveTo>
                  <a:cubicBezTo>
                    <a:pt x="0" y="109220"/>
                    <a:pt x="111125" y="0"/>
                    <a:pt x="248031" y="0"/>
                  </a:cubicBezTo>
                  <a:lnTo>
                    <a:pt x="10432034" y="0"/>
                  </a:lnTo>
                  <a:cubicBezTo>
                    <a:pt x="10569067" y="0"/>
                    <a:pt x="10680065" y="109220"/>
                    <a:pt x="10680065" y="243840"/>
                  </a:cubicBezTo>
                  <a:lnTo>
                    <a:pt x="10680065" y="2036064"/>
                  </a:lnTo>
                  <a:cubicBezTo>
                    <a:pt x="10680065" y="2170684"/>
                    <a:pt x="10568940" y="2279904"/>
                    <a:pt x="10432034" y="2279904"/>
                  </a:cubicBezTo>
                  <a:lnTo>
                    <a:pt x="248031" y="2279904"/>
                  </a:lnTo>
                  <a:cubicBezTo>
                    <a:pt x="110998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0865" cy="2330704"/>
            </a:xfrm>
            <a:custGeom>
              <a:avLst/>
              <a:gdLst/>
              <a:ahLst/>
              <a:cxnLst/>
              <a:rect r="r" b="b" t="t" l="l"/>
              <a:pathLst>
                <a:path h="2330704" w="10730865">
                  <a:moveTo>
                    <a:pt x="0" y="269240"/>
                  </a:moveTo>
                  <a:cubicBezTo>
                    <a:pt x="0" y="120142"/>
                    <a:pt x="122809" y="0"/>
                    <a:pt x="273431" y="0"/>
                  </a:cubicBezTo>
                  <a:lnTo>
                    <a:pt x="10457434" y="0"/>
                  </a:lnTo>
                  <a:lnTo>
                    <a:pt x="10457434" y="25400"/>
                  </a:lnTo>
                  <a:lnTo>
                    <a:pt x="10457434" y="0"/>
                  </a:lnTo>
                  <a:cubicBezTo>
                    <a:pt x="10608056" y="0"/>
                    <a:pt x="10730865" y="120142"/>
                    <a:pt x="10730865" y="269240"/>
                  </a:cubicBezTo>
                  <a:lnTo>
                    <a:pt x="10705465" y="269240"/>
                  </a:lnTo>
                  <a:lnTo>
                    <a:pt x="10730865" y="269240"/>
                  </a:lnTo>
                  <a:lnTo>
                    <a:pt x="10730865" y="2061464"/>
                  </a:lnTo>
                  <a:lnTo>
                    <a:pt x="10705465" y="2061464"/>
                  </a:lnTo>
                  <a:lnTo>
                    <a:pt x="10730865" y="2061464"/>
                  </a:lnTo>
                  <a:cubicBezTo>
                    <a:pt x="10730865" y="2210562"/>
                    <a:pt x="10608056" y="2330704"/>
                    <a:pt x="10457434" y="2330704"/>
                  </a:cubicBezTo>
                  <a:lnTo>
                    <a:pt x="10457434" y="2305304"/>
                  </a:lnTo>
                  <a:lnTo>
                    <a:pt x="10457434" y="2330704"/>
                  </a:lnTo>
                  <a:lnTo>
                    <a:pt x="273431" y="2330704"/>
                  </a:lnTo>
                  <a:lnTo>
                    <a:pt x="273431" y="2305304"/>
                  </a:lnTo>
                  <a:lnTo>
                    <a:pt x="273431" y="2330704"/>
                  </a:lnTo>
                  <a:cubicBezTo>
                    <a:pt x="122809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431" y="2279904"/>
                  </a:cubicBezTo>
                  <a:lnTo>
                    <a:pt x="10457434" y="2279904"/>
                  </a:lnTo>
                  <a:cubicBezTo>
                    <a:pt x="10580877" y="2279904"/>
                    <a:pt x="10680065" y="2181733"/>
                    <a:pt x="10680065" y="2061464"/>
                  </a:cubicBezTo>
                  <a:lnTo>
                    <a:pt x="10680065" y="269240"/>
                  </a:lnTo>
                  <a:cubicBezTo>
                    <a:pt x="10680065" y="148971"/>
                    <a:pt x="10580751" y="50800"/>
                    <a:pt x="10457434" y="50800"/>
                  </a:cubicBezTo>
                  <a:lnTo>
                    <a:pt x="273431" y="50800"/>
                  </a:lnTo>
                  <a:lnTo>
                    <a:pt x="273431" y="25400"/>
                  </a:lnTo>
                  <a:lnTo>
                    <a:pt x="273431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47584" y="3632001"/>
            <a:ext cx="152400" cy="1709886"/>
            <a:chOff x="0" y="0"/>
            <a:chExt cx="203200" cy="22798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223135"/>
                  </a:lnTo>
                  <a:cubicBezTo>
                    <a:pt x="203200" y="2254504"/>
                    <a:pt x="177800" y="2279904"/>
                    <a:pt x="146431" y="2279904"/>
                  </a:cubicBezTo>
                  <a:lnTo>
                    <a:pt x="56769" y="2279904"/>
                  </a:lnTo>
                  <a:cubicBezTo>
                    <a:pt x="25400" y="2279904"/>
                    <a:pt x="0" y="2254504"/>
                    <a:pt x="0" y="222313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21602" y="3915519"/>
            <a:ext cx="456128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K-Nearest Neighbors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1602" y="4471392"/>
            <a:ext cx="725254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 = 7, distance-weighted for proximity-based classification.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3188" y="5606355"/>
            <a:ext cx="8048030" cy="1747986"/>
            <a:chOff x="0" y="0"/>
            <a:chExt cx="10730707" cy="23306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10679812" cy="2279904"/>
            </a:xfrm>
            <a:custGeom>
              <a:avLst/>
              <a:gdLst/>
              <a:ahLst/>
              <a:cxnLst/>
              <a:rect r="r" b="b" t="t" l="l"/>
              <a:pathLst>
                <a:path h="2279904" w="10679812">
                  <a:moveTo>
                    <a:pt x="0" y="243840"/>
                  </a:moveTo>
                  <a:cubicBezTo>
                    <a:pt x="0" y="109220"/>
                    <a:pt x="111125" y="0"/>
                    <a:pt x="248031" y="0"/>
                  </a:cubicBezTo>
                  <a:lnTo>
                    <a:pt x="10431780" y="0"/>
                  </a:lnTo>
                  <a:cubicBezTo>
                    <a:pt x="10568813" y="0"/>
                    <a:pt x="10679812" y="109220"/>
                    <a:pt x="10679812" y="243840"/>
                  </a:cubicBezTo>
                  <a:lnTo>
                    <a:pt x="10679812" y="2036064"/>
                  </a:lnTo>
                  <a:cubicBezTo>
                    <a:pt x="10679812" y="2170684"/>
                    <a:pt x="10568687" y="2279904"/>
                    <a:pt x="10431780" y="2279904"/>
                  </a:cubicBezTo>
                  <a:lnTo>
                    <a:pt x="248031" y="2279904"/>
                  </a:lnTo>
                  <a:cubicBezTo>
                    <a:pt x="110998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0612" cy="2330704"/>
            </a:xfrm>
            <a:custGeom>
              <a:avLst/>
              <a:gdLst/>
              <a:ahLst/>
              <a:cxnLst/>
              <a:rect r="r" b="b" t="t" l="l"/>
              <a:pathLst>
                <a:path h="2330704" w="10730612">
                  <a:moveTo>
                    <a:pt x="0" y="269240"/>
                  </a:moveTo>
                  <a:cubicBezTo>
                    <a:pt x="0" y="120142"/>
                    <a:pt x="122809" y="0"/>
                    <a:pt x="273431" y="0"/>
                  </a:cubicBezTo>
                  <a:lnTo>
                    <a:pt x="10457180" y="0"/>
                  </a:lnTo>
                  <a:lnTo>
                    <a:pt x="10457180" y="25400"/>
                  </a:lnTo>
                  <a:lnTo>
                    <a:pt x="10457180" y="0"/>
                  </a:lnTo>
                  <a:cubicBezTo>
                    <a:pt x="10607802" y="0"/>
                    <a:pt x="10730612" y="120142"/>
                    <a:pt x="10730612" y="269240"/>
                  </a:cubicBezTo>
                  <a:lnTo>
                    <a:pt x="10705212" y="269240"/>
                  </a:lnTo>
                  <a:lnTo>
                    <a:pt x="10730612" y="269240"/>
                  </a:lnTo>
                  <a:lnTo>
                    <a:pt x="10730612" y="2061464"/>
                  </a:lnTo>
                  <a:lnTo>
                    <a:pt x="10705212" y="2061464"/>
                  </a:lnTo>
                  <a:lnTo>
                    <a:pt x="10730612" y="2061464"/>
                  </a:lnTo>
                  <a:cubicBezTo>
                    <a:pt x="10730612" y="2210562"/>
                    <a:pt x="10607802" y="2330704"/>
                    <a:pt x="10457180" y="2330704"/>
                  </a:cubicBezTo>
                  <a:lnTo>
                    <a:pt x="10457180" y="2305304"/>
                  </a:lnTo>
                  <a:lnTo>
                    <a:pt x="10457180" y="2330704"/>
                  </a:lnTo>
                  <a:lnTo>
                    <a:pt x="273431" y="2330704"/>
                  </a:lnTo>
                  <a:lnTo>
                    <a:pt x="273431" y="2305304"/>
                  </a:lnTo>
                  <a:lnTo>
                    <a:pt x="273431" y="2330704"/>
                  </a:lnTo>
                  <a:cubicBezTo>
                    <a:pt x="122809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431" y="2279904"/>
                  </a:cubicBezTo>
                  <a:lnTo>
                    <a:pt x="10457180" y="2279904"/>
                  </a:lnTo>
                  <a:cubicBezTo>
                    <a:pt x="10580624" y="2279904"/>
                    <a:pt x="10679812" y="2181733"/>
                    <a:pt x="10679812" y="2061464"/>
                  </a:cubicBezTo>
                  <a:lnTo>
                    <a:pt x="10679812" y="269240"/>
                  </a:lnTo>
                  <a:cubicBezTo>
                    <a:pt x="10679812" y="148971"/>
                    <a:pt x="10580498" y="50800"/>
                    <a:pt x="10457180" y="50800"/>
                  </a:cubicBezTo>
                  <a:lnTo>
                    <a:pt x="273431" y="50800"/>
                  </a:lnTo>
                  <a:lnTo>
                    <a:pt x="273431" y="25400"/>
                  </a:lnTo>
                  <a:lnTo>
                    <a:pt x="273431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4138" y="5625405"/>
            <a:ext cx="152400" cy="1709886"/>
            <a:chOff x="0" y="0"/>
            <a:chExt cx="203200" cy="22798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223135"/>
                  </a:lnTo>
                  <a:cubicBezTo>
                    <a:pt x="203200" y="2254504"/>
                    <a:pt x="177800" y="2279904"/>
                    <a:pt x="146431" y="2279904"/>
                  </a:cubicBezTo>
                  <a:lnTo>
                    <a:pt x="56769" y="2279904"/>
                  </a:lnTo>
                  <a:cubicBezTo>
                    <a:pt x="25400" y="2279904"/>
                    <a:pt x="0" y="2254504"/>
                    <a:pt x="0" y="222313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28155" y="5908922"/>
            <a:ext cx="538862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Support Vector Machine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155" y="6464796"/>
            <a:ext cx="7252395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RBF kernel for non-linear decision boundaries.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66635" y="5606355"/>
            <a:ext cx="8048179" cy="1747986"/>
            <a:chOff x="0" y="0"/>
            <a:chExt cx="10730905" cy="23306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80065" cy="2279904"/>
            </a:xfrm>
            <a:custGeom>
              <a:avLst/>
              <a:gdLst/>
              <a:ahLst/>
              <a:cxnLst/>
              <a:rect r="r" b="b" t="t" l="l"/>
              <a:pathLst>
                <a:path h="2279904" w="10680065">
                  <a:moveTo>
                    <a:pt x="0" y="243840"/>
                  </a:moveTo>
                  <a:cubicBezTo>
                    <a:pt x="0" y="109220"/>
                    <a:pt x="111125" y="0"/>
                    <a:pt x="248031" y="0"/>
                  </a:cubicBezTo>
                  <a:lnTo>
                    <a:pt x="10432034" y="0"/>
                  </a:lnTo>
                  <a:cubicBezTo>
                    <a:pt x="10569067" y="0"/>
                    <a:pt x="10680065" y="109220"/>
                    <a:pt x="10680065" y="243840"/>
                  </a:cubicBezTo>
                  <a:lnTo>
                    <a:pt x="10680065" y="2036064"/>
                  </a:lnTo>
                  <a:cubicBezTo>
                    <a:pt x="10680065" y="2170684"/>
                    <a:pt x="10568940" y="2279904"/>
                    <a:pt x="10432034" y="2279904"/>
                  </a:cubicBezTo>
                  <a:lnTo>
                    <a:pt x="248031" y="2279904"/>
                  </a:lnTo>
                  <a:cubicBezTo>
                    <a:pt x="110998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865" cy="2330704"/>
            </a:xfrm>
            <a:custGeom>
              <a:avLst/>
              <a:gdLst/>
              <a:ahLst/>
              <a:cxnLst/>
              <a:rect r="r" b="b" t="t" l="l"/>
              <a:pathLst>
                <a:path h="2330704" w="10730865">
                  <a:moveTo>
                    <a:pt x="0" y="269240"/>
                  </a:moveTo>
                  <a:cubicBezTo>
                    <a:pt x="0" y="120142"/>
                    <a:pt x="122809" y="0"/>
                    <a:pt x="273431" y="0"/>
                  </a:cubicBezTo>
                  <a:lnTo>
                    <a:pt x="10457434" y="0"/>
                  </a:lnTo>
                  <a:lnTo>
                    <a:pt x="10457434" y="25400"/>
                  </a:lnTo>
                  <a:lnTo>
                    <a:pt x="10457434" y="0"/>
                  </a:lnTo>
                  <a:cubicBezTo>
                    <a:pt x="10608056" y="0"/>
                    <a:pt x="10730865" y="120142"/>
                    <a:pt x="10730865" y="269240"/>
                  </a:cubicBezTo>
                  <a:lnTo>
                    <a:pt x="10705465" y="269240"/>
                  </a:lnTo>
                  <a:lnTo>
                    <a:pt x="10730865" y="269240"/>
                  </a:lnTo>
                  <a:lnTo>
                    <a:pt x="10730865" y="2061464"/>
                  </a:lnTo>
                  <a:lnTo>
                    <a:pt x="10705465" y="2061464"/>
                  </a:lnTo>
                  <a:lnTo>
                    <a:pt x="10730865" y="2061464"/>
                  </a:lnTo>
                  <a:cubicBezTo>
                    <a:pt x="10730865" y="2210562"/>
                    <a:pt x="10608056" y="2330704"/>
                    <a:pt x="10457434" y="2330704"/>
                  </a:cubicBezTo>
                  <a:lnTo>
                    <a:pt x="10457434" y="2305304"/>
                  </a:lnTo>
                  <a:lnTo>
                    <a:pt x="10457434" y="2330704"/>
                  </a:lnTo>
                  <a:lnTo>
                    <a:pt x="273431" y="2330704"/>
                  </a:lnTo>
                  <a:lnTo>
                    <a:pt x="273431" y="2305304"/>
                  </a:lnTo>
                  <a:lnTo>
                    <a:pt x="273431" y="2330704"/>
                  </a:lnTo>
                  <a:cubicBezTo>
                    <a:pt x="122809" y="2330704"/>
                    <a:pt x="0" y="2210562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50114" y="2279904"/>
                    <a:pt x="273431" y="2279904"/>
                  </a:cubicBezTo>
                  <a:lnTo>
                    <a:pt x="10457434" y="2279904"/>
                  </a:lnTo>
                  <a:cubicBezTo>
                    <a:pt x="10580877" y="2279904"/>
                    <a:pt x="10680065" y="2181733"/>
                    <a:pt x="10680065" y="2061464"/>
                  </a:cubicBezTo>
                  <a:lnTo>
                    <a:pt x="10680065" y="269240"/>
                  </a:lnTo>
                  <a:cubicBezTo>
                    <a:pt x="10680065" y="148971"/>
                    <a:pt x="10580751" y="50800"/>
                    <a:pt x="10457434" y="50800"/>
                  </a:cubicBezTo>
                  <a:lnTo>
                    <a:pt x="273431" y="50800"/>
                  </a:lnTo>
                  <a:lnTo>
                    <a:pt x="273431" y="25400"/>
                  </a:lnTo>
                  <a:lnTo>
                    <a:pt x="273431" y="50800"/>
                  </a:lnTo>
                  <a:cubicBezTo>
                    <a:pt x="150114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47584" y="5625405"/>
            <a:ext cx="152400" cy="1709886"/>
            <a:chOff x="0" y="0"/>
            <a:chExt cx="203200" cy="22798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2223135"/>
                  </a:lnTo>
                  <a:cubicBezTo>
                    <a:pt x="203200" y="2254504"/>
                    <a:pt x="177800" y="2279904"/>
                    <a:pt x="146431" y="2279904"/>
                  </a:cubicBezTo>
                  <a:lnTo>
                    <a:pt x="56769" y="2279904"/>
                  </a:lnTo>
                  <a:cubicBezTo>
                    <a:pt x="25400" y="2279904"/>
                    <a:pt x="0" y="2254504"/>
                    <a:pt x="0" y="2223135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721602" y="5908922"/>
            <a:ext cx="457289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Logistic Regression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1602" y="6464796"/>
            <a:ext cx="725254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Multinomial, L2 regularization for linear classification.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2238" y="7558980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Training/Test Split: 70/30 with standardized features.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51881"/>
            <a:ext cx="13458676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Results: Accuracy Comparison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5" y="3457277"/>
            <a:ext cx="16313051" cy="3280172"/>
            <a:chOff x="0" y="0"/>
            <a:chExt cx="21750735" cy="43735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50655" cy="4373499"/>
            </a:xfrm>
            <a:custGeom>
              <a:avLst/>
              <a:gdLst/>
              <a:ahLst/>
              <a:cxnLst/>
              <a:rect r="r" b="b" t="t" l="l"/>
              <a:pathLst>
                <a:path h="4373499" w="21750655">
                  <a:moveTo>
                    <a:pt x="0" y="62992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655" y="28194"/>
                    <a:pt x="21750655" y="62992"/>
                  </a:cubicBezTo>
                  <a:lnTo>
                    <a:pt x="21744305" y="62992"/>
                  </a:lnTo>
                  <a:lnTo>
                    <a:pt x="21750655" y="62992"/>
                  </a:lnTo>
                  <a:lnTo>
                    <a:pt x="21750655" y="4310507"/>
                  </a:lnTo>
                  <a:lnTo>
                    <a:pt x="21744305" y="4310507"/>
                  </a:lnTo>
                  <a:lnTo>
                    <a:pt x="21750655" y="4310507"/>
                  </a:lnTo>
                  <a:cubicBezTo>
                    <a:pt x="21750655" y="4345305"/>
                    <a:pt x="21722335" y="4373499"/>
                    <a:pt x="21687537" y="4373499"/>
                  </a:cubicBezTo>
                  <a:lnTo>
                    <a:pt x="21687537" y="4367149"/>
                  </a:lnTo>
                  <a:lnTo>
                    <a:pt x="21687537" y="4373499"/>
                  </a:lnTo>
                  <a:lnTo>
                    <a:pt x="63119" y="4373499"/>
                  </a:lnTo>
                  <a:lnTo>
                    <a:pt x="63119" y="4367149"/>
                  </a:lnTo>
                  <a:lnTo>
                    <a:pt x="63119" y="4373499"/>
                  </a:lnTo>
                  <a:cubicBezTo>
                    <a:pt x="28194" y="4373499"/>
                    <a:pt x="0" y="4345305"/>
                    <a:pt x="0" y="4310507"/>
                  </a:cubicBezTo>
                  <a:lnTo>
                    <a:pt x="0" y="62992"/>
                  </a:lnTo>
                  <a:lnTo>
                    <a:pt x="6350" y="62992"/>
                  </a:lnTo>
                  <a:lnTo>
                    <a:pt x="0" y="62992"/>
                  </a:lnTo>
                  <a:moveTo>
                    <a:pt x="12700" y="62992"/>
                  </a:moveTo>
                  <a:lnTo>
                    <a:pt x="12700" y="4310507"/>
                  </a:lnTo>
                  <a:lnTo>
                    <a:pt x="6350" y="4310507"/>
                  </a:lnTo>
                  <a:lnTo>
                    <a:pt x="12700" y="4310507"/>
                  </a:lnTo>
                  <a:cubicBezTo>
                    <a:pt x="12700" y="4338320"/>
                    <a:pt x="35306" y="4360799"/>
                    <a:pt x="63119" y="4360799"/>
                  </a:cubicBezTo>
                  <a:lnTo>
                    <a:pt x="21687537" y="4360799"/>
                  </a:lnTo>
                  <a:cubicBezTo>
                    <a:pt x="21715476" y="4360799"/>
                    <a:pt x="21737955" y="4338193"/>
                    <a:pt x="21737955" y="4310507"/>
                  </a:cubicBezTo>
                  <a:lnTo>
                    <a:pt x="21737955" y="62992"/>
                  </a:lnTo>
                  <a:cubicBezTo>
                    <a:pt x="21737955" y="35179"/>
                    <a:pt x="21715350" y="12700"/>
                    <a:pt x="21687537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2992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1762" y="3471565"/>
            <a:ext cx="16284476" cy="812899"/>
            <a:chOff x="0" y="0"/>
            <a:chExt cx="21712635" cy="1083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280" y="3555950"/>
            <a:ext cx="757044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 Forest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32280" y="3555950"/>
            <a:ext cx="757044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83.53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1762" y="4284464"/>
            <a:ext cx="16284476" cy="812899"/>
            <a:chOff x="0" y="0"/>
            <a:chExt cx="21712635" cy="10838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85280" y="4368850"/>
            <a:ext cx="757044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KNN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32280" y="4368850"/>
            <a:ext cx="757044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82.32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1762" y="5097364"/>
            <a:ext cx="16284476" cy="812899"/>
            <a:chOff x="0" y="0"/>
            <a:chExt cx="21712635" cy="10838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85280" y="5181749"/>
            <a:ext cx="757044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SVM (RBF)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32280" y="5181749"/>
            <a:ext cx="757044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44.26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1762" y="5910262"/>
            <a:ext cx="16284476" cy="812899"/>
            <a:chOff x="0" y="0"/>
            <a:chExt cx="21712635" cy="1083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85280" y="5994648"/>
            <a:ext cx="757044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Logistic Regression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32280" y="5994648"/>
            <a:ext cx="7570440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23.86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6956375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 Forest performed best due to strong handling of nonlinear patterns.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728942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SVM and Logistic Regression underperformed due to overlapping motion features.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929830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Analysis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4439990"/>
            <a:ext cx="16303526" cy="2087315"/>
            <a:chOff x="0" y="0"/>
            <a:chExt cx="21738035" cy="27830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38081" cy="2783078"/>
            </a:xfrm>
            <a:custGeom>
              <a:avLst/>
              <a:gdLst/>
              <a:ahLst/>
              <a:cxnLst/>
              <a:rect r="r" b="b" t="t" l="l"/>
              <a:pathLst>
                <a:path h="2783078" w="21738081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81312" y="0"/>
                  </a:lnTo>
                  <a:cubicBezTo>
                    <a:pt x="21712681" y="0"/>
                    <a:pt x="21738081" y="25400"/>
                    <a:pt x="21738081" y="56769"/>
                  </a:cubicBezTo>
                  <a:lnTo>
                    <a:pt x="21738081" y="2726309"/>
                  </a:lnTo>
                  <a:cubicBezTo>
                    <a:pt x="21738081" y="2757678"/>
                    <a:pt x="21712681" y="2783078"/>
                    <a:pt x="21681312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4439990"/>
            <a:ext cx="5434459" cy="2087315"/>
            <a:chOff x="0" y="0"/>
            <a:chExt cx="7245945" cy="27830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45985" cy="2783078"/>
            </a:xfrm>
            <a:custGeom>
              <a:avLst/>
              <a:gdLst/>
              <a:ahLst/>
              <a:cxnLst/>
              <a:rect r="r" b="b" t="t" l="l"/>
              <a:pathLst>
                <a:path h="2783078" w="724598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7189216" y="0"/>
                  </a:lnTo>
                  <a:cubicBezTo>
                    <a:pt x="7220585" y="0"/>
                    <a:pt x="7245985" y="25400"/>
                    <a:pt x="7245985" y="56769"/>
                  </a:cubicBezTo>
                  <a:lnTo>
                    <a:pt x="7245985" y="2726309"/>
                  </a:lnTo>
                  <a:cubicBezTo>
                    <a:pt x="7245985" y="2757678"/>
                    <a:pt x="7220585" y="2783078"/>
                    <a:pt x="7189216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D8D9D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75755" y="4685408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RF &amp; KNN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755" y="5241280"/>
            <a:ext cx="486742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Strong diagonal confusion matrix, good classification.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26696" y="4439990"/>
            <a:ext cx="5434459" cy="2087315"/>
            <a:chOff x="0" y="0"/>
            <a:chExt cx="7245945" cy="27830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45985" cy="2783078"/>
            </a:xfrm>
            <a:custGeom>
              <a:avLst/>
              <a:gdLst/>
              <a:ahLst/>
              <a:cxnLst/>
              <a:rect r="r" b="b" t="t" l="l"/>
              <a:pathLst>
                <a:path h="2783078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426696" y="4439990"/>
            <a:ext cx="38100" cy="2087315"/>
            <a:chOff x="0" y="0"/>
            <a:chExt cx="50800" cy="27830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" cy="2783078"/>
            </a:xfrm>
            <a:custGeom>
              <a:avLst/>
              <a:gdLst/>
              <a:ahLst/>
              <a:cxnLst/>
              <a:rect r="r" b="b" t="t" l="l"/>
              <a:pathLst>
                <a:path h="278307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7678"/>
                  </a:lnTo>
                  <a:cubicBezTo>
                    <a:pt x="50800" y="2771648"/>
                    <a:pt x="39370" y="2783078"/>
                    <a:pt x="25400" y="2783078"/>
                  </a:cubicBezTo>
                  <a:cubicBezTo>
                    <a:pt x="11430" y="2783078"/>
                    <a:pt x="0" y="2771648"/>
                    <a:pt x="0" y="2757678"/>
                  </a:cubicBezTo>
                  <a:close/>
                </a:path>
              </a:pathLst>
            </a:custGeom>
            <a:solidFill>
              <a:srgbClr val="AEB0A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710214" y="4685408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SVM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10214" y="5241280"/>
            <a:ext cx="4867424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Confusion across similar activities (walking vs. upstairs).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61155" y="4439990"/>
            <a:ext cx="5434459" cy="2087315"/>
            <a:chOff x="0" y="0"/>
            <a:chExt cx="7245945" cy="27830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45985" cy="2783078"/>
            </a:xfrm>
            <a:custGeom>
              <a:avLst/>
              <a:gdLst/>
              <a:ahLst/>
              <a:cxnLst/>
              <a:rect r="r" b="b" t="t" l="l"/>
              <a:pathLst>
                <a:path h="2783078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2783078"/>
                  </a:lnTo>
                  <a:lnTo>
                    <a:pt x="0" y="2783078"/>
                  </a:lnTo>
                  <a:close/>
                </a:path>
              </a:pathLst>
            </a:custGeom>
            <a:solidFill>
              <a:srgbClr val="D8D9D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861155" y="4439990"/>
            <a:ext cx="38100" cy="2087315"/>
            <a:chOff x="0" y="0"/>
            <a:chExt cx="50800" cy="27830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" cy="2783078"/>
            </a:xfrm>
            <a:custGeom>
              <a:avLst/>
              <a:gdLst/>
              <a:ahLst/>
              <a:cxnLst/>
              <a:rect r="r" b="b" t="t" l="l"/>
              <a:pathLst>
                <a:path h="278307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7678"/>
                  </a:lnTo>
                  <a:cubicBezTo>
                    <a:pt x="50800" y="2771648"/>
                    <a:pt x="39370" y="2783078"/>
                    <a:pt x="25400" y="2783078"/>
                  </a:cubicBezTo>
                  <a:cubicBezTo>
                    <a:pt x="11430" y="2783078"/>
                    <a:pt x="0" y="2771648"/>
                    <a:pt x="0" y="2757678"/>
                  </a:cubicBezTo>
                  <a:close/>
                </a:path>
              </a:pathLst>
            </a:custGeom>
            <a:solidFill>
              <a:srgbClr val="AEB0A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144672" y="4685408"/>
            <a:ext cx="457289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Logistic Regression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44672" y="5241280"/>
            <a:ext cx="486742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Limited capability for nonlinear patterns.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6750992"/>
            <a:ext cx="1630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 is inherently difficult due to noise, orientation shifts, and inter-person variability.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DAG4rq4VQgo</dc:identifier>
  <dcterms:modified xsi:type="dcterms:W3CDTF">2011-08-01T06:04:30Z</dcterms:modified>
  <cp:revision>1</cp:revision>
  <dc:title>Human-Activity-Recognition-Using-Smartphone-Accelerometer-Data (1).pptx</dc:title>
</cp:coreProperties>
</file>